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  <p:sldId id="257" r:id="rId3"/>
    <p:sldId id="258" r:id="rId4"/>
    <p:sldId id="259" r:id="rId5"/>
    <p:sldId id="260" r:id="rId6"/>
    <p:sldId id="284" r:id="rId7"/>
    <p:sldId id="287" r:id="rId8"/>
    <p:sldId id="288" r:id="rId9"/>
    <p:sldId id="289" r:id="rId10"/>
    <p:sldId id="269" r:id="rId11"/>
    <p:sldId id="29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31C82C4-ECBC-4AAE-9CB6-069017A91B80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30E66EBE-3305-4CF0-BC9E-C217CB4A0E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15059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C82C4-ECBC-4AAE-9CB6-069017A91B80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66EBE-3305-4CF0-BC9E-C217CB4A0E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13986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C82C4-ECBC-4AAE-9CB6-069017A91B80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66EBE-3305-4CF0-BC9E-C217CB4A0E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66167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C82C4-ECBC-4AAE-9CB6-069017A91B80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66EBE-3305-4CF0-BC9E-C217CB4A0E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48184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C82C4-ECBC-4AAE-9CB6-069017A91B80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66EBE-3305-4CF0-BC9E-C217CB4A0E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1130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C82C4-ECBC-4AAE-9CB6-069017A91B80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66EBE-3305-4CF0-BC9E-C217CB4A0E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36056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C82C4-ECBC-4AAE-9CB6-069017A91B80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66EBE-3305-4CF0-BC9E-C217CB4A0E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89572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C82C4-ECBC-4AAE-9CB6-069017A91B80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66EBE-3305-4CF0-BC9E-C217CB4A0E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81014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C82C4-ECBC-4AAE-9CB6-069017A91B80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66EBE-3305-4CF0-BC9E-C217CB4A0E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42251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C82C4-ECBC-4AAE-9CB6-069017A91B80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66EBE-3305-4CF0-BC9E-C217CB4A0E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55211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C82C4-ECBC-4AAE-9CB6-069017A91B80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66EBE-3305-4CF0-BC9E-C217CB4A0E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67007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C82C4-ECBC-4AAE-9CB6-069017A91B80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66EBE-3305-4CF0-BC9E-C217CB4A0EF6}" type="slidenum">
              <a:rPr lang="hu-HU" smtClean="0"/>
              <a:t>‹#›</a:t>
            </a:fld>
            <a:endParaRPr lang="hu-H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090862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C82C4-ECBC-4AAE-9CB6-069017A91B80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66EBE-3305-4CF0-BC9E-C217CB4A0E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270359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C82C4-ECBC-4AAE-9CB6-069017A91B80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66EBE-3305-4CF0-BC9E-C217CB4A0E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095411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C82C4-ECBC-4AAE-9CB6-069017A91B80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66EBE-3305-4CF0-BC9E-C217CB4A0E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093070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C82C4-ECBC-4AAE-9CB6-069017A91B80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66EBE-3305-4CF0-BC9E-C217CB4A0E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99380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C82C4-ECBC-4AAE-9CB6-069017A91B80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66EBE-3305-4CF0-BC9E-C217CB4A0E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03534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C82C4-ECBC-4AAE-9CB6-069017A91B80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E66EBE-3305-4CF0-BC9E-C217CB4A0E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438135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  <p:sldLayoutId id="214748379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38DEA46-F667-423E-8DF9-7F5BA41751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hu-HU" b="1" dirty="0"/>
              <a:t>Jelszóbiztonság és jelszókezelés</a:t>
            </a:r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F2AF4948-E6DF-4C39-AE24-8FB4F8CC97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9863" y="2873462"/>
            <a:ext cx="7082600" cy="3984538"/>
          </a:xfrm>
          <a:prstGeom prst="parallelogram">
            <a:avLst/>
          </a:prstGeom>
        </p:spPr>
      </p:pic>
      <p:pic>
        <p:nvPicPr>
          <p:cNvPr id="5" name="Picture 7" descr="Weak password, login warning icon. Illustration vector">
            <a:extLst>
              <a:ext uri="{FF2B5EF4-FFF2-40B4-BE49-F238E27FC236}">
                <a16:creationId xmlns:a16="http://schemas.microsoft.com/office/drawing/2014/main" id="{66F5DD9F-9826-44E2-90E7-AF907F55D3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20" b="89966" l="9961" r="95605">
                        <a14:foregroundMark x1="70752" y1="61688" x2="70557" y2="60433"/>
                        <a14:foregroundMark x1="75000" y1="59407" x2="75830" y2="62942"/>
                        <a14:foregroundMark x1="69629" y1="65792" x2="73145" y2="50285"/>
                        <a14:foregroundMark x1="73145" y1="50285" x2="73145" y2="49829"/>
                        <a14:foregroundMark x1="74121" y1="51197" x2="75830" y2="60205"/>
                        <a14:foregroundMark x1="75830" y1="60205" x2="75830" y2="60205"/>
                        <a14:foregroundMark x1="89160" y1="66363" x2="89388" y2="64509"/>
                        <a14:foregroundMark x1="95605" y1="64880" x2="93457" y2="55188"/>
                        <a14:foregroundMark x1="43311" y1="57925" x2="45020" y2="52908"/>
                        <a14:foregroundMark x1="43701" y1="44356" x2="42969" y2="37400"/>
                        <a14:foregroundMark x1="45117" y1="31357" x2="25537" y2="88483"/>
                        <a14:foregroundMark x1="25879" y1="71950" x2="45905" y2="30049"/>
                        <a14:foregroundMark x1="88818" y1="39567" x2="86426" y2="36602"/>
                        <a14:backgroundMark x1="2979" y1="38655" x2="2979" y2="38655"/>
                        <a14:backgroundMark x1="2979" y1="38655" x2="3125" y2="32497"/>
                        <a14:backgroundMark x1="89941" y1="49601" x2="89941" y2="49601"/>
                        <a14:backgroundMark x1="87256" y1="49601" x2="87256" y2="49601"/>
                        <a14:backgroundMark x1="84570" y1="49601" x2="84570" y2="49601"/>
                        <a14:backgroundMark x1="93018" y1="60319" x2="93018" y2="60319"/>
                        <a14:backgroundMark x1="90234" y1="59065" x2="90234" y2="59065"/>
                        <a14:backgroundMark x1="92725" y1="67161" x2="92725" y2="67161"/>
                        <a14:backgroundMark x1="89453" y1="62144" x2="89453" y2="62144"/>
                        <a14:backgroundMark x1="90088" y1="60661" x2="89893" y2="61460"/>
                        <a14:backgroundMark x1="89453" y1="61802" x2="89111" y2="64310"/>
                        <a14:backgroundMark x1="90039" y1="60661" x2="89648" y2="62144"/>
                        <a14:backgroundMark x1="90039" y1="59863" x2="90039" y2="61802"/>
                        <a14:backgroundMark x1="74268" y1="58723" x2="74023" y2="57013"/>
                        <a14:backgroundMark x1="74023" y1="64652" x2="73486" y2="63854"/>
                        <a14:backgroundMark x1="87061" y1="32155" x2="87402" y2="32155"/>
                        <a14:backgroundMark x1="52051" y1="18472" x2="50781" y2="23603"/>
                        <a14:backgroundMark x1="51270" y1="18472" x2="51855" y2="12543"/>
                        <a14:backgroundMark x1="54395" y1="10604" x2="45264" y2="27936"/>
                        <a14:backgroundMark x1="45264" y1="27936" x2="45264" y2="28050"/>
                        <a14:backgroundMark x1="46191" y1="28620" x2="51074" y2="21437"/>
                        <a14:backgroundMark x1="51221" y1="20296" x2="46631" y2="2497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36733" y="5486470"/>
            <a:ext cx="12192000" cy="5221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lcím 6">
            <a:extLst>
              <a:ext uri="{FF2B5EF4-FFF2-40B4-BE49-F238E27FC236}">
                <a16:creationId xmlns:a16="http://schemas.microsoft.com/office/drawing/2014/main" id="{177BE539-86CF-47E4-81E8-D5081142DA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424273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>
            <a:extLst>
              <a:ext uri="{FF2B5EF4-FFF2-40B4-BE49-F238E27FC236}">
                <a16:creationId xmlns:a16="http://schemas.microsoft.com/office/drawing/2014/main" id="{4411D1F6-0895-4461-AA16-57A87B4F43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412" y="2873462"/>
            <a:ext cx="7082600" cy="3984538"/>
          </a:xfrm>
          <a:prstGeom prst="parallelogram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B9403044-322F-4AB5-AAD5-7313B39F3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Miért fontos a jelszóvédelem?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CE21D38-A945-4131-9F68-602AF229D0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1861423"/>
            <a:ext cx="501385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Szinte minden online szolgáltatáshoz jelszó kell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Gyenge jelszó → könnyű feltörni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Személyes adatok, pénz, profilok veszélybe kerülhetnek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legtöbb támadás a rossz jelszavak miatt sikeres</a:t>
            </a:r>
          </a:p>
        </p:txBody>
      </p:sp>
      <p:pic>
        <p:nvPicPr>
          <p:cNvPr id="1031" name="Picture 7" descr="Weak password, login warning icon. Illustration vector">
            <a:extLst>
              <a:ext uri="{FF2B5EF4-FFF2-40B4-BE49-F238E27FC236}">
                <a16:creationId xmlns:a16="http://schemas.microsoft.com/office/drawing/2014/main" id="{84159826-CBCD-4AE8-B19F-C90CFDE8B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20" b="89966" l="9961" r="95605">
                        <a14:foregroundMark x1="70752" y1="61688" x2="70557" y2="60433"/>
                        <a14:foregroundMark x1="75000" y1="59407" x2="75830" y2="62942"/>
                        <a14:foregroundMark x1="69629" y1="65792" x2="73145" y2="50285"/>
                        <a14:foregroundMark x1="73145" y1="50285" x2="73145" y2="49829"/>
                        <a14:foregroundMark x1="74121" y1="51197" x2="75830" y2="60205"/>
                        <a14:foregroundMark x1="75830" y1="60205" x2="75830" y2="60205"/>
                        <a14:foregroundMark x1="89160" y1="66363" x2="89388" y2="64509"/>
                        <a14:foregroundMark x1="95605" y1="64880" x2="93457" y2="55188"/>
                        <a14:foregroundMark x1="43311" y1="57925" x2="45020" y2="52908"/>
                        <a14:foregroundMark x1="43701" y1="44356" x2="42969" y2="37400"/>
                        <a14:foregroundMark x1="45117" y1="31357" x2="25537" y2="88483"/>
                        <a14:foregroundMark x1="25879" y1="71950" x2="45905" y2="30049"/>
                        <a14:foregroundMark x1="88818" y1="39567" x2="86426" y2="36602"/>
                        <a14:backgroundMark x1="2979" y1="38655" x2="2979" y2="38655"/>
                        <a14:backgroundMark x1="2979" y1="38655" x2="3125" y2="32497"/>
                        <a14:backgroundMark x1="89941" y1="49601" x2="89941" y2="49601"/>
                        <a14:backgroundMark x1="87256" y1="49601" x2="87256" y2="49601"/>
                        <a14:backgroundMark x1="84570" y1="49601" x2="84570" y2="49601"/>
                        <a14:backgroundMark x1="93018" y1="60319" x2="93018" y2="60319"/>
                        <a14:backgroundMark x1="90234" y1="59065" x2="90234" y2="59065"/>
                        <a14:backgroundMark x1="92725" y1="67161" x2="92725" y2="67161"/>
                        <a14:backgroundMark x1="89453" y1="62144" x2="89453" y2="62144"/>
                        <a14:backgroundMark x1="90088" y1="60661" x2="89893" y2="61460"/>
                        <a14:backgroundMark x1="89453" y1="61802" x2="89111" y2="64310"/>
                        <a14:backgroundMark x1="90039" y1="60661" x2="89648" y2="62144"/>
                        <a14:backgroundMark x1="90039" y1="59863" x2="90039" y2="61802"/>
                        <a14:backgroundMark x1="74268" y1="58723" x2="74023" y2="57013"/>
                        <a14:backgroundMark x1="74023" y1="64652" x2="73486" y2="63854"/>
                        <a14:backgroundMark x1="87061" y1="32155" x2="87402" y2="32155"/>
                        <a14:backgroundMark x1="52051" y1="18472" x2="50781" y2="23603"/>
                        <a14:backgroundMark x1="51270" y1="18472" x2="51855" y2="12543"/>
                        <a14:backgroundMark x1="54395" y1="10604" x2="45264" y2="27936"/>
                        <a14:backgroundMark x1="45264" y1="27936" x2="45264" y2="28050"/>
                        <a14:backgroundMark x1="46191" y1="28620" x2="51074" y2="21437"/>
                        <a14:backgroundMark x1="51221" y1="20296" x2="46631" y2="2497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36733" y="2984807"/>
            <a:ext cx="12192000" cy="5221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43173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68FEB11-7DF8-4981-BC4C-488A3ECF3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Milyen a rossz jelszó?</a:t>
            </a:r>
            <a:br>
              <a:rPr lang="pt-BR" b="1" dirty="0"/>
            </a:br>
            <a:endParaRPr lang="hu-H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C8BD1A7-F123-4CF1-A7F3-D5AD4CB06A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1710139"/>
            <a:ext cx="8560357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rövid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könnyen kitalálható (pl. név, születési dátum)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hu-HU" altLang="hu-HU" sz="3200" dirty="0">
                <a:latin typeface="Arial" panose="020B0604020202020204" pitchFamily="34" charset="0"/>
              </a:rPr>
              <a:t>c</a:t>
            </a: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sak betű vagy csak szám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több helyen ugyanaz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hu-HU" altLang="hu-H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Példa: 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123456</a:t>
            </a:r>
            <a:r>
              <a:rPr kumimoji="0" lang="hu-HU" altLang="hu-H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hu-HU" altLang="hu-H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password</a:t>
            </a:r>
            <a:r>
              <a:rPr kumimoji="0" lang="hu-HU" altLang="hu-H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peti2007</a:t>
            </a:r>
            <a:endParaRPr kumimoji="0" lang="hu-HU" altLang="hu-HU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117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41076FE-164F-467F-A834-6AEF59C00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Milyen az erős jelszó?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7DC495B-8E0C-4E05-B9F4-5D85DC337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00" y="2097088"/>
            <a:ext cx="532553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hosszú (legalább 10–12 karakter)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kis + nagybetű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szám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speciális karakter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nem személyes adat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Példa: </a:t>
            </a:r>
            <a:r>
              <a:rPr kumimoji="0" lang="hu-HU" altLang="hu-H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K7!pZ#91Lm@q</a:t>
            </a: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61203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138DAE3-7714-4442-AE51-23605E54C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Hogyan törik fel a jelszavakat?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08DDF18-0BF0-44F2-9BE3-E8CE8E65C1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12346" y="1858650"/>
            <a:ext cx="721223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hu-HU" altLang="hu-HU" sz="3600" dirty="0" err="1">
                <a:latin typeface="Arial" panose="020B0604020202020204" pitchFamily="34" charset="0"/>
              </a:rPr>
              <a:t>b</a:t>
            </a:r>
            <a:r>
              <a:rPr kumimoji="0" lang="hu-HU" altLang="hu-HU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rute</a:t>
            </a:r>
            <a:r>
              <a:rPr kumimoji="0" lang="hu-HU" altLang="hu-H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kumimoji="0" lang="hu-HU" altLang="hu-H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hu-HU" altLang="hu-HU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végigpróbál</a:t>
            </a:r>
            <a:r>
              <a:rPr kumimoji="0" lang="hu-HU" altLang="hu-H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mindent)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hu-HU" altLang="hu-H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szótár alapú támadás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hu-HU" altLang="hu-H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adathalászat (</a:t>
            </a:r>
            <a:r>
              <a:rPr kumimoji="0" lang="hu-HU" altLang="hu-HU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phishing</a:t>
            </a:r>
            <a:r>
              <a:rPr kumimoji="0" lang="hu-HU" altLang="hu-H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hu-HU" altLang="hu-H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kémprogram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2C5129B-E543-4C13-B44A-FE8D609959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4746" y="1858650"/>
            <a:ext cx="2694969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None/>
            </a:pPr>
            <a:r>
              <a:rPr lang="hu-HU" altLang="hu-HU" sz="4000" dirty="0" err="1">
                <a:noFill/>
                <a:latin typeface="Arial" panose="020B0604020202020204" pitchFamily="34" charset="0"/>
              </a:rPr>
              <a:t>Brute</a:t>
            </a:r>
            <a:r>
              <a:rPr lang="hu-HU" altLang="hu-HU" sz="4000" dirty="0">
                <a:noFill/>
                <a:latin typeface="Arial" panose="020B0604020202020204" pitchFamily="34" charset="0"/>
              </a:rPr>
              <a:t> </a:t>
            </a:r>
            <a:r>
              <a:rPr lang="hu-HU" altLang="hu-HU" sz="4000" dirty="0" err="1">
                <a:noFill/>
                <a:latin typeface="Arial" panose="020B0604020202020204" pitchFamily="34" charset="0"/>
              </a:rPr>
              <a:t>force</a:t>
            </a:r>
            <a:endParaRPr lang="hu-HU" altLang="hu-HU" sz="4000" dirty="0">
              <a:noFill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57099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138DAE3-7714-4442-AE51-23605E54C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-1857982"/>
            <a:ext cx="9905998" cy="1478570"/>
          </a:xfrm>
        </p:spPr>
        <p:txBody>
          <a:bodyPr/>
          <a:lstStyle/>
          <a:p>
            <a:r>
              <a:rPr lang="hu-HU" dirty="0"/>
              <a:t>Hogyan törik fel a jelszavakat?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08DDF18-0BF0-44F2-9BE3-E8CE8E65C1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7946" y="372869"/>
            <a:ext cx="269496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hu-HU" altLang="hu-HU" sz="4000" dirty="0" err="1">
                <a:latin typeface="Arial" panose="020B0604020202020204" pitchFamily="34" charset="0"/>
              </a:rPr>
              <a:t>Brute</a:t>
            </a:r>
            <a:r>
              <a:rPr lang="hu-HU" altLang="hu-HU" sz="4000" dirty="0">
                <a:latin typeface="Arial" panose="020B0604020202020204" pitchFamily="34" charset="0"/>
              </a:rPr>
              <a:t> </a:t>
            </a:r>
            <a:r>
              <a:rPr lang="hu-HU" altLang="hu-HU" sz="4000" dirty="0" err="1">
                <a:latin typeface="Arial" panose="020B0604020202020204" pitchFamily="34" charset="0"/>
              </a:rPr>
              <a:t>force</a:t>
            </a:r>
            <a:endParaRPr kumimoji="0" lang="hu-HU" altLang="hu-H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2077BB3-55FA-4B91-95BE-B011706B1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946" y="1125150"/>
            <a:ext cx="5176417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None/>
            </a:pPr>
            <a:r>
              <a:rPr lang="hu-HU" altLang="hu-HU" sz="4000" dirty="0">
                <a:solidFill>
                  <a:schemeClr val="tx1">
                    <a:alpha val="0"/>
                  </a:schemeClr>
                </a:solidFill>
                <a:latin typeface="Arial" panose="020B0604020202020204" pitchFamily="34" charset="0"/>
              </a:rPr>
              <a:t>Szótár alapú támadás</a:t>
            </a:r>
          </a:p>
        </p:txBody>
      </p:sp>
      <p:pic>
        <p:nvPicPr>
          <p:cNvPr id="1026" name="Picture 2" descr="The 2025 Hive Systems Password Table Is Here - Passwords Are Easier to  Crack Than Ever">
            <a:extLst>
              <a:ext uri="{FF2B5EF4-FFF2-40B4-BE49-F238E27FC236}">
                <a16:creationId xmlns:a16="http://schemas.microsoft.com/office/drawing/2014/main" id="{136CD728-1529-4689-844F-D5A2E24E01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07" b="12346"/>
          <a:stretch/>
        </p:blipFill>
        <p:spPr bwMode="auto">
          <a:xfrm>
            <a:off x="6256865" y="2240133"/>
            <a:ext cx="5050439" cy="3598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65C41131-B06C-42DA-8ED0-AE2440EE1E1B}"/>
              </a:ext>
            </a:extLst>
          </p:cNvPr>
          <p:cNvSpPr txBox="1"/>
          <p:nvPr/>
        </p:nvSpPr>
        <p:spPr>
          <a:xfrm>
            <a:off x="497946" y="1278467"/>
            <a:ext cx="75115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 támadó egy program segítségével </a:t>
            </a:r>
            <a:r>
              <a:rPr lang="hu-HU" b="1" dirty="0"/>
              <a:t>minden lehetséges jelszó kombinációt kipróbál</a:t>
            </a:r>
            <a:r>
              <a:rPr lang="hu-HU" dirty="0"/>
              <a:t>, amíg meg nem találja a helyeset.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A6CFABD6-BBB5-483A-BF92-217A637499F8}"/>
              </a:ext>
            </a:extLst>
          </p:cNvPr>
          <p:cNvSpPr txBox="1"/>
          <p:nvPr/>
        </p:nvSpPr>
        <p:spPr>
          <a:xfrm>
            <a:off x="497945" y="2382348"/>
            <a:ext cx="57589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/>
              <a:t>Hogyan működik:</a:t>
            </a: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a program automatikusan próbálkozik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sorban </a:t>
            </a:r>
            <a:r>
              <a:rPr lang="hu-HU" dirty="0" err="1"/>
              <a:t>végigteszteli</a:t>
            </a:r>
            <a:r>
              <a:rPr lang="hu-HU" dirty="0"/>
              <a:t> a karakterkombinációkat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addig fut, amíg sikeres nem lesz</a:t>
            </a:r>
          </a:p>
          <a:p>
            <a:endParaRPr lang="hu-HU" dirty="0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6047610B-F653-452C-A02F-86EC7AD9E64E}"/>
              </a:ext>
            </a:extLst>
          </p:cNvPr>
          <p:cNvSpPr txBox="1"/>
          <p:nvPr/>
        </p:nvSpPr>
        <p:spPr>
          <a:xfrm>
            <a:off x="497944" y="3808823"/>
            <a:ext cx="57589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/>
              <a:t>Mi befolyásolja a feltörés idejét:</a:t>
            </a: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jelszó hossza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karakterkészlet (csak szám / betű / speciális karakter)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számítógép teljesítménye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25949EE7-CB4F-4021-8F46-C9D91DD56196}"/>
              </a:ext>
            </a:extLst>
          </p:cNvPr>
          <p:cNvSpPr txBox="1"/>
          <p:nvPr/>
        </p:nvSpPr>
        <p:spPr>
          <a:xfrm>
            <a:off x="497944" y="5238302"/>
            <a:ext cx="58843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/>
              <a:t>Védekezés:</a:t>
            </a: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hosszú jelszó (12+ karakter)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több karaktertípus használata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kétlépcsős azonosítás (2FA)</a:t>
            </a:r>
          </a:p>
        </p:txBody>
      </p:sp>
    </p:spTree>
    <p:extLst>
      <p:ext uri="{BB962C8B-B14F-4D97-AF65-F5344CB8AC3E}">
        <p14:creationId xmlns:p14="http://schemas.microsoft.com/office/powerpoint/2010/main" val="33999380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C20E4C7-449B-412A-80C5-732077859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6" y="-353943"/>
            <a:ext cx="269496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None/>
            </a:pPr>
            <a:r>
              <a:rPr lang="hu-HU" altLang="hu-HU" sz="4000" dirty="0" err="1">
                <a:solidFill>
                  <a:schemeClr val="tx1">
                    <a:alpha val="0"/>
                  </a:schemeClr>
                </a:solidFill>
                <a:latin typeface="Arial" panose="020B0604020202020204" pitchFamily="34" charset="0"/>
              </a:rPr>
              <a:t>Brute</a:t>
            </a:r>
            <a:r>
              <a:rPr lang="hu-HU" altLang="hu-HU" sz="4000" dirty="0">
                <a:solidFill>
                  <a:schemeClr val="tx1">
                    <a:alpha val="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hu-HU" altLang="hu-HU" sz="4000" dirty="0" err="1">
                <a:solidFill>
                  <a:schemeClr val="tx1">
                    <a:alpha val="0"/>
                  </a:schemeClr>
                </a:solidFill>
                <a:latin typeface="Arial" panose="020B0604020202020204" pitchFamily="34" charset="0"/>
              </a:rPr>
              <a:t>force</a:t>
            </a:r>
            <a:endParaRPr lang="hu-HU" altLang="hu-HU" sz="4000" dirty="0">
              <a:solidFill>
                <a:schemeClr val="tx1">
                  <a:alpha val="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65F2605-992C-4557-BD4E-8F93946BF7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6" y="398338"/>
            <a:ext cx="5176417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None/>
            </a:pPr>
            <a:r>
              <a:rPr lang="hu-HU" altLang="hu-HU" sz="4000" dirty="0">
                <a:latin typeface="Arial" panose="020B0604020202020204" pitchFamily="34" charset="0"/>
              </a:rPr>
              <a:t>Szótár alapú támadás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D533B0E-D3C6-403B-9CB6-3F1CD899FB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6" y="1150619"/>
            <a:ext cx="549060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kumimoji="0" lang="hu-HU" altLang="hu-HU" sz="4000" b="0" i="0" u="none" strike="noStrike" cap="none" normalizeH="0" baseline="0" dirty="0">
                <a:ln>
                  <a:noFill/>
                </a:ln>
                <a:solidFill>
                  <a:schemeClr val="tx1">
                    <a:alpha val="0"/>
                  </a:schemeClr>
                </a:solidFill>
                <a:effectLst/>
                <a:latin typeface="Arial" panose="020B0604020202020204" pitchFamily="34" charset="0"/>
              </a:rPr>
              <a:t>adathalászat (</a:t>
            </a:r>
            <a:r>
              <a:rPr kumimoji="0" lang="hu-HU" altLang="hu-HU" sz="4000" b="0" i="0" u="none" strike="noStrike" cap="none" normalizeH="0" baseline="0" dirty="0" err="1">
                <a:ln>
                  <a:noFill/>
                </a:ln>
                <a:solidFill>
                  <a:schemeClr val="tx1">
                    <a:alpha val="0"/>
                  </a:schemeClr>
                </a:solidFill>
                <a:effectLst/>
                <a:latin typeface="Arial" panose="020B0604020202020204" pitchFamily="34" charset="0"/>
              </a:rPr>
              <a:t>phishing</a:t>
            </a:r>
            <a:r>
              <a:rPr kumimoji="0" lang="hu-HU" altLang="hu-HU" sz="4000" b="0" i="0" u="none" strike="noStrike" cap="none" normalizeH="0" baseline="0" dirty="0">
                <a:ln>
                  <a:noFill/>
                </a:ln>
                <a:solidFill>
                  <a:schemeClr val="tx1">
                    <a:alpha val="0"/>
                  </a:schemeClr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8A8A14CB-7571-4542-8E61-3286C57E5118}"/>
              </a:ext>
            </a:extLst>
          </p:cNvPr>
          <p:cNvSpPr txBox="1"/>
          <p:nvPr/>
        </p:nvSpPr>
        <p:spPr>
          <a:xfrm>
            <a:off x="516996" y="1535339"/>
            <a:ext cx="75723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 támadó nem minden kombinációt próbál ki, hanem </a:t>
            </a:r>
            <a:r>
              <a:rPr lang="hu-HU" b="1" dirty="0"/>
              <a:t>előre összeállított jelszólistát</a:t>
            </a:r>
            <a:r>
              <a:rPr lang="hu-HU" dirty="0"/>
              <a:t> használ.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26C46E8F-6005-42B0-9DAB-DB1DF787671D}"/>
              </a:ext>
            </a:extLst>
          </p:cNvPr>
          <p:cNvSpPr txBox="1"/>
          <p:nvPr/>
        </p:nvSpPr>
        <p:spPr>
          <a:xfrm>
            <a:off x="516996" y="2362200"/>
            <a:ext cx="77602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/>
              <a:t>Mi van a listában:</a:t>
            </a: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gyakori jelszavak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szótári szavak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nevekből és számokból álló kombinációk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47C1150A-EC98-43F6-8CC3-878E0548190A}"/>
              </a:ext>
            </a:extLst>
          </p:cNvPr>
          <p:cNvSpPr txBox="1"/>
          <p:nvPr/>
        </p:nvSpPr>
        <p:spPr>
          <a:xfrm>
            <a:off x="516996" y="3773836"/>
            <a:ext cx="6657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/>
              <a:t>Miért működik jól:</a:t>
            </a: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az emberek gyakran </a:t>
            </a:r>
            <a:r>
              <a:rPr lang="hu-HU" b="1" dirty="0"/>
              <a:t>egyszerű vagy ismert szavakat választanak</a:t>
            </a: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sok felhasználó ugyanazt a jelszót használja több helyen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543D364E-29C7-4F23-989B-EDA2E0A2EC20}"/>
              </a:ext>
            </a:extLst>
          </p:cNvPr>
          <p:cNvSpPr txBox="1"/>
          <p:nvPr/>
        </p:nvSpPr>
        <p:spPr>
          <a:xfrm>
            <a:off x="516996" y="4908473"/>
            <a:ext cx="68484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/>
              <a:t>Védekezés:</a:t>
            </a: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ne használj szótári szavakat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ne használj személyes adatokat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használj véletlenszerű jelszót</a:t>
            </a:r>
          </a:p>
        </p:txBody>
      </p:sp>
    </p:spTree>
    <p:extLst>
      <p:ext uri="{BB962C8B-B14F-4D97-AF65-F5344CB8AC3E}">
        <p14:creationId xmlns:p14="http://schemas.microsoft.com/office/powerpoint/2010/main" val="4109177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165F2605-992C-4557-BD4E-8F93946BF7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6" y="-306512"/>
            <a:ext cx="5176417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None/>
            </a:pPr>
            <a:r>
              <a:rPr lang="hu-HU" altLang="hu-HU" sz="4000" dirty="0">
                <a:solidFill>
                  <a:schemeClr val="tx1">
                    <a:alpha val="0"/>
                  </a:schemeClr>
                </a:solidFill>
                <a:latin typeface="Arial" panose="020B0604020202020204" pitchFamily="34" charset="0"/>
              </a:rPr>
              <a:t>Szótár alapú támadás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D533B0E-D3C6-403B-9CB6-3F1CD899FB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6" y="445769"/>
            <a:ext cx="549060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kumimoji="0" lang="hu-HU" altLang="hu-HU" sz="4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adathalászat (</a:t>
            </a:r>
            <a:r>
              <a:rPr kumimoji="0" lang="hu-HU" altLang="hu-HU" sz="4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phishing</a:t>
            </a:r>
            <a:r>
              <a:rPr kumimoji="0" lang="hu-HU" altLang="hu-HU" sz="4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D117F84-FE7B-40AC-92E1-273F1E81B7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" y="1198050"/>
            <a:ext cx="3066865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None/>
            </a:pPr>
            <a:r>
              <a:rPr kumimoji="0" lang="hu-HU" altLang="hu-HU" sz="4000" b="0" i="0" u="none" strike="noStrike" cap="none" normalizeH="0" baseline="0" dirty="0">
                <a:ln>
                  <a:noFill/>
                </a:ln>
                <a:solidFill>
                  <a:schemeClr val="tx1">
                    <a:alpha val="0"/>
                  </a:schemeClr>
                </a:solidFill>
                <a:effectLst/>
                <a:latin typeface="Arial" panose="020B0604020202020204" pitchFamily="34" charset="0"/>
              </a:rPr>
              <a:t>kémprogram</a:t>
            </a:r>
            <a:endParaRPr lang="hu-HU" altLang="hu-HU" sz="4000" dirty="0">
              <a:solidFill>
                <a:schemeClr val="tx1">
                  <a:alpha val="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2624305E-3885-4051-BF35-8B98FE5F3A32}"/>
              </a:ext>
            </a:extLst>
          </p:cNvPr>
          <p:cNvSpPr txBox="1"/>
          <p:nvPr/>
        </p:nvSpPr>
        <p:spPr>
          <a:xfrm>
            <a:off x="516996" y="1535339"/>
            <a:ext cx="7572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 támadó </a:t>
            </a:r>
            <a:r>
              <a:rPr lang="hu-HU" b="1" dirty="0"/>
              <a:t>becsapja a felhasználót</a:t>
            </a:r>
            <a:r>
              <a:rPr lang="hu-HU" dirty="0"/>
              <a:t>, hogy saját maga adja meg a jelszavát.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8FEE06C5-E461-4092-BDB8-F9CE28570AC7}"/>
              </a:ext>
            </a:extLst>
          </p:cNvPr>
          <p:cNvSpPr txBox="1"/>
          <p:nvPr/>
        </p:nvSpPr>
        <p:spPr>
          <a:xfrm>
            <a:off x="516995" y="2115978"/>
            <a:ext cx="77602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/>
              <a:t>Hogyan történik:</a:t>
            </a:r>
            <a:endParaRPr lang="hu-HU" dirty="0"/>
          </a:p>
          <a:p>
            <a:r>
              <a:rPr lang="hu-HU" dirty="0"/>
              <a:t>a támadó küld egy hamis emailt vagy üzenetet</a:t>
            </a:r>
          </a:p>
          <a:p>
            <a:r>
              <a:rPr lang="hu-HU" dirty="0"/>
              <a:t>egy hamis weboldalra irányít</a:t>
            </a:r>
          </a:p>
          <a:p>
            <a:r>
              <a:rPr lang="hu-HU" dirty="0"/>
              <a:t>a felhasználó beírja a jelszavát</a:t>
            </a:r>
          </a:p>
          <a:p>
            <a:r>
              <a:rPr lang="hu-HU" dirty="0"/>
              <a:t>a támadó megszerzi az adatokat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19D0BC71-D3D1-4127-ABD3-B62DA447F175}"/>
              </a:ext>
            </a:extLst>
          </p:cNvPr>
          <p:cNvSpPr txBox="1"/>
          <p:nvPr/>
        </p:nvSpPr>
        <p:spPr>
          <a:xfrm>
            <a:off x="523847" y="3803348"/>
            <a:ext cx="66579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/>
              <a:t>Védekezés:</a:t>
            </a:r>
            <a:endParaRPr lang="hu-HU" dirty="0"/>
          </a:p>
          <a:p>
            <a:r>
              <a:rPr lang="hu-HU" dirty="0"/>
              <a:t>ellenőrizd a weboldal címét</a:t>
            </a:r>
          </a:p>
          <a:p>
            <a:r>
              <a:rPr lang="hu-HU" dirty="0"/>
              <a:t>ne kattints gyanús linkre</a:t>
            </a:r>
          </a:p>
          <a:p>
            <a:r>
              <a:rPr lang="hu-HU" dirty="0"/>
              <a:t>használj kétlépcsős azonosítást</a:t>
            </a:r>
          </a:p>
        </p:txBody>
      </p:sp>
      <p:pic>
        <p:nvPicPr>
          <p:cNvPr id="2050" name="Picture 2" descr="Tricky Forms of Phishing | Trend Micro (US)">
            <a:extLst>
              <a:ext uri="{FF2B5EF4-FFF2-40B4-BE49-F238E27FC236}">
                <a16:creationId xmlns:a16="http://schemas.microsoft.com/office/drawing/2014/main" id="{C9B93C95-5C92-438F-BD6F-56123BD67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6692" y="1198050"/>
            <a:ext cx="2843212" cy="4037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6784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FD533B0E-D3C6-403B-9CB6-3F1CD899FB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6" y="-354331"/>
            <a:ext cx="549060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kumimoji="0" lang="hu-HU" altLang="hu-HU" sz="4000" b="0" i="0" u="none" strike="noStrike" cap="none" normalizeH="0" baseline="0" dirty="0">
                <a:ln>
                  <a:noFill/>
                </a:ln>
                <a:solidFill>
                  <a:schemeClr val="tx1">
                    <a:alpha val="0"/>
                  </a:schemeClr>
                </a:solidFill>
                <a:effectLst/>
                <a:latin typeface="Arial" panose="020B0604020202020204" pitchFamily="34" charset="0"/>
              </a:rPr>
              <a:t>adathalászat (</a:t>
            </a:r>
            <a:r>
              <a:rPr kumimoji="0" lang="hu-HU" altLang="hu-HU" sz="4000" b="0" i="0" u="none" strike="noStrike" cap="none" normalizeH="0" baseline="0" dirty="0" err="1">
                <a:ln>
                  <a:noFill/>
                </a:ln>
                <a:solidFill>
                  <a:schemeClr val="tx1">
                    <a:alpha val="0"/>
                  </a:schemeClr>
                </a:solidFill>
                <a:effectLst/>
                <a:latin typeface="Arial" panose="020B0604020202020204" pitchFamily="34" charset="0"/>
              </a:rPr>
              <a:t>phishing</a:t>
            </a:r>
            <a:r>
              <a:rPr kumimoji="0" lang="hu-HU" altLang="hu-HU" sz="4000" b="0" i="0" u="none" strike="noStrike" cap="none" normalizeH="0" baseline="0" dirty="0">
                <a:ln>
                  <a:noFill/>
                </a:ln>
                <a:solidFill>
                  <a:schemeClr val="tx1">
                    <a:alpha val="0"/>
                  </a:schemeClr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D117F84-FE7B-40AC-92E1-273F1E81B7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" y="397950"/>
            <a:ext cx="3066865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None/>
            </a:pPr>
            <a:r>
              <a:rPr kumimoji="0" lang="hu-HU" altLang="hu-HU" sz="4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kémprogram</a:t>
            </a:r>
            <a:endParaRPr lang="hu-HU" altLang="hu-HU" sz="4000" dirty="0">
              <a:latin typeface="Arial" panose="020B0604020202020204" pitchFamily="34" charset="0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23AD2293-E118-4E96-A601-B3673EA80FEB}"/>
              </a:ext>
            </a:extLst>
          </p:cNvPr>
          <p:cNvSpPr txBox="1"/>
          <p:nvPr/>
        </p:nvSpPr>
        <p:spPr>
          <a:xfrm>
            <a:off x="516997" y="1535339"/>
            <a:ext cx="5388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 kémprogram </a:t>
            </a:r>
            <a:r>
              <a:rPr lang="hu-HU" b="1" dirty="0"/>
              <a:t>rögzíti a billentyűleütéseket</a:t>
            </a:r>
            <a:r>
              <a:rPr lang="hu-HU" dirty="0"/>
              <a:t>, így a támadó megszerzi a jelszavakat.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58844CF2-54A7-4A48-98EC-4420886D17C9}"/>
              </a:ext>
            </a:extLst>
          </p:cNvPr>
          <p:cNvSpPr txBox="1"/>
          <p:nvPr/>
        </p:nvSpPr>
        <p:spPr>
          <a:xfrm>
            <a:off x="516996" y="2362200"/>
            <a:ext cx="40835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/>
              <a:t>Hogyan működik:</a:t>
            </a: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a program települ a számítógépre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figyeli a billentyűzetet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elküldi az adatokat a támadónak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DAEF39F3-374A-4083-8596-AB393013D583}"/>
              </a:ext>
            </a:extLst>
          </p:cNvPr>
          <p:cNvSpPr txBox="1"/>
          <p:nvPr/>
        </p:nvSpPr>
        <p:spPr>
          <a:xfrm>
            <a:off x="4517495" y="2372335"/>
            <a:ext cx="66579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/>
              <a:t>Mit tud ellopni:</a:t>
            </a: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jelszavak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bankkártya adatok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üzenetek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5E14EE22-AF2E-4604-B764-1C973DA0A8E9}"/>
              </a:ext>
            </a:extLst>
          </p:cNvPr>
          <p:cNvSpPr txBox="1"/>
          <p:nvPr/>
        </p:nvSpPr>
        <p:spPr>
          <a:xfrm>
            <a:off x="593195" y="4487111"/>
            <a:ext cx="68484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/>
              <a:t>Hogyan kerül a gépre:</a:t>
            </a: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fertőzött program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kalóz szoftver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gyanús letöltés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2D1ABA34-46E5-47B8-A24A-EB374BF0B6D9}"/>
              </a:ext>
            </a:extLst>
          </p:cNvPr>
          <p:cNvSpPr txBox="1"/>
          <p:nvPr/>
        </p:nvSpPr>
        <p:spPr>
          <a:xfrm>
            <a:off x="3927712" y="4497246"/>
            <a:ext cx="41597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/>
              <a:t>Védekezés:</a:t>
            </a:r>
            <a:endParaRPr lang="hu-HU" dirty="0"/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vírusirtó használata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csak megbízható programok telepítése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rendszeres frissítés</a:t>
            </a:r>
          </a:p>
        </p:txBody>
      </p:sp>
      <p:pic>
        <p:nvPicPr>
          <p:cNvPr id="3074" name="Picture 2" descr="Keylogger malware stealing passwords by monitoring keyboard input on a computer">
            <a:extLst>
              <a:ext uri="{FF2B5EF4-FFF2-40B4-BE49-F238E27FC236}">
                <a16:creationId xmlns:a16="http://schemas.microsoft.com/office/drawing/2014/main" id="{65ECA4A6-D996-4DD1-82B5-5A85AC424C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2542" y="1275796"/>
            <a:ext cx="4541837" cy="2555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52523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B1AB2C6-E212-458C-955C-80BCE26E6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0581" y="2689715"/>
            <a:ext cx="5430837" cy="1478570"/>
          </a:xfrm>
        </p:spPr>
        <p:txBody>
          <a:bodyPr/>
          <a:lstStyle/>
          <a:p>
            <a:pPr algn="ctr"/>
            <a:r>
              <a:rPr lang="hu-HU" b="1" dirty="0"/>
              <a:t>Köszönjük a figyelmet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931602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0A53C62-439B-4C50-8646-F59D91434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8D07767-AF7E-4129-8050-65404A9B1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Picture 6" descr="Sticker Hypnotic Swirl">
            <a:extLst>
              <a:ext uri="{FF2B5EF4-FFF2-40B4-BE49-F238E27FC236}">
                <a16:creationId xmlns:a16="http://schemas.microsoft.com/office/drawing/2014/main" id="{733E348A-42F8-4EBE-8B85-12832B4AC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89968" y="-3739682"/>
            <a:ext cx="18971936" cy="14337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761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Áramkör">
  <a:themeElements>
    <a:clrScheme name="Áramkör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Áramkör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Áramkör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Áramkör</Template>
  <TotalTime>201</TotalTime>
  <Words>398</Words>
  <Application>Microsoft Office PowerPoint</Application>
  <PresentationFormat>Szélesvásznú</PresentationFormat>
  <Paragraphs>89</Paragraphs>
  <Slides>11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5" baseType="lpstr">
      <vt:lpstr>Arial</vt:lpstr>
      <vt:lpstr>Arial Unicode MS</vt:lpstr>
      <vt:lpstr>Tw Cen MT</vt:lpstr>
      <vt:lpstr>Áramkör</vt:lpstr>
      <vt:lpstr>Jelszóbiztonság és jelszókezelés</vt:lpstr>
      <vt:lpstr>Miért fontos a jelszóvédelem?</vt:lpstr>
      <vt:lpstr>Milyen a rossz jelszó? </vt:lpstr>
      <vt:lpstr>Milyen az erős jelszó?</vt:lpstr>
      <vt:lpstr>Hogyan törik fel a jelszavakat?</vt:lpstr>
      <vt:lpstr>Hogyan törik fel a jelszavakat?</vt:lpstr>
      <vt:lpstr>PowerPoint-bemutató</vt:lpstr>
      <vt:lpstr>PowerPoint-bemutató</vt:lpstr>
      <vt:lpstr>PowerPoint-bemutató</vt:lpstr>
      <vt:lpstr>Köszönjük a figyelmet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Jelszóbiztonság és jelszókezelés</dc:title>
  <dc:creator>Farkas Korn�l</dc:creator>
  <cp:lastModifiedBy>Farkas Korn�l</cp:lastModifiedBy>
  <cp:revision>30</cp:revision>
  <dcterms:created xsi:type="dcterms:W3CDTF">2026-02-16T08:12:19Z</dcterms:created>
  <dcterms:modified xsi:type="dcterms:W3CDTF">2026-03-09T08:10:12Z</dcterms:modified>
</cp:coreProperties>
</file>